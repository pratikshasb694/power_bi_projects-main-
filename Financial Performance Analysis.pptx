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72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8779" y="2011456"/>
            <a:ext cx="4954270" cy="365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59016" y="1826260"/>
            <a:ext cx="3858259" cy="4151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"/>
            <a:ext cx="12192000" cy="68573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333625"/>
            <a:ext cx="12192000" cy="4524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1832" y="538861"/>
            <a:ext cx="8144509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65775" y="1799526"/>
            <a:ext cx="6249034" cy="448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97" y="4030027"/>
            <a:ext cx="8407400" cy="177101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marR="5080">
              <a:lnSpc>
                <a:spcPts val="6530"/>
              </a:lnSpc>
              <a:spcBef>
                <a:spcPts val="880"/>
              </a:spcBef>
            </a:pPr>
            <a:r>
              <a:rPr sz="6000" b="1" spc="-100" dirty="0">
                <a:solidFill>
                  <a:srgbClr val="FFFFFF"/>
                </a:solidFill>
                <a:latin typeface="Tahoma"/>
                <a:cs typeface="Tahoma"/>
              </a:rPr>
              <a:t>Financial</a:t>
            </a:r>
            <a:r>
              <a:rPr sz="6000" b="1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b="1" spc="-20" dirty="0">
                <a:solidFill>
                  <a:srgbClr val="FFFFFF"/>
                </a:solidFill>
                <a:latin typeface="Tahoma"/>
                <a:cs typeface="Tahoma"/>
              </a:rPr>
              <a:t>Performance </a:t>
            </a:r>
            <a:r>
              <a:rPr sz="6000" b="1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3897" y="5987415"/>
            <a:ext cx="35699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BI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Implementation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Problem</a:t>
            </a:r>
            <a:r>
              <a:rPr spc="-114" dirty="0"/>
              <a:t> </a:t>
            </a:r>
            <a:r>
              <a:rPr spc="-65" dirty="0"/>
              <a:t>Statement</a:t>
            </a:r>
            <a:r>
              <a:rPr spc="-180" dirty="0"/>
              <a:t> </a:t>
            </a:r>
            <a:r>
              <a:rPr spc="-225" dirty="0"/>
              <a:t>&amp;</a:t>
            </a:r>
            <a:r>
              <a:rPr spc="-19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pc="-35" dirty="0"/>
              <a:t>Problem</a:t>
            </a:r>
            <a:r>
              <a:rPr spc="-85" dirty="0"/>
              <a:t> </a:t>
            </a:r>
            <a:r>
              <a:rPr spc="-10" dirty="0"/>
              <a:t>Statement</a:t>
            </a: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b="0" dirty="0">
                <a:latin typeface="Verdana"/>
                <a:cs typeface="Verdana"/>
              </a:rPr>
              <a:t>A</a:t>
            </a:r>
            <a:r>
              <a:rPr b="0" spc="-130" dirty="0">
                <a:latin typeface="Verdana"/>
                <a:cs typeface="Verdana"/>
              </a:rPr>
              <a:t> </a:t>
            </a:r>
            <a:r>
              <a:rPr b="0" spc="-85" dirty="0">
                <a:latin typeface="Verdana"/>
                <a:cs typeface="Verdana"/>
              </a:rPr>
              <a:t>financial</a:t>
            </a:r>
            <a:r>
              <a:rPr b="0" spc="-120" dirty="0">
                <a:latin typeface="Verdana"/>
                <a:cs typeface="Verdana"/>
              </a:rPr>
              <a:t> </a:t>
            </a:r>
            <a:r>
              <a:rPr b="0" spc="-55" dirty="0">
                <a:latin typeface="Verdana"/>
                <a:cs typeface="Verdana"/>
              </a:rPr>
              <a:t>services</a:t>
            </a:r>
            <a:r>
              <a:rPr b="0" spc="-150" dirty="0">
                <a:latin typeface="Verdana"/>
                <a:cs typeface="Verdana"/>
              </a:rPr>
              <a:t> </a:t>
            </a:r>
            <a:r>
              <a:rPr b="0" spc="-125" dirty="0">
                <a:latin typeface="Verdana"/>
                <a:cs typeface="Verdana"/>
              </a:rPr>
              <a:t>firm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75" dirty="0">
                <a:latin typeface="Verdana"/>
                <a:cs typeface="Verdana"/>
              </a:rPr>
              <a:t>wants</a:t>
            </a:r>
            <a:r>
              <a:rPr b="0" spc="-15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to </a:t>
            </a:r>
            <a:r>
              <a:rPr b="0" spc="-110" dirty="0">
                <a:latin typeface="Verdana"/>
                <a:cs typeface="Verdana"/>
              </a:rPr>
              <a:t>automate</a:t>
            </a:r>
            <a:r>
              <a:rPr b="0" spc="-95" dirty="0">
                <a:latin typeface="Verdana"/>
                <a:cs typeface="Verdana"/>
              </a:rPr>
              <a:t> </a:t>
            </a:r>
            <a:r>
              <a:rPr b="0" spc="-75" dirty="0">
                <a:latin typeface="Verdana"/>
                <a:cs typeface="Verdana"/>
              </a:rPr>
              <a:t>its</a:t>
            </a:r>
            <a:r>
              <a:rPr b="0" spc="-140" dirty="0">
                <a:latin typeface="Verdana"/>
                <a:cs typeface="Verdana"/>
              </a:rPr>
              <a:t> </a:t>
            </a:r>
            <a:r>
              <a:rPr b="0" spc="-90" dirty="0">
                <a:latin typeface="Verdana"/>
                <a:cs typeface="Verdana"/>
              </a:rPr>
              <a:t>financial</a:t>
            </a:r>
            <a:r>
              <a:rPr b="0" spc="-60" dirty="0">
                <a:latin typeface="Verdana"/>
                <a:cs typeface="Verdana"/>
              </a:rPr>
              <a:t> </a:t>
            </a:r>
            <a:r>
              <a:rPr b="0" spc="-95" dirty="0">
                <a:latin typeface="Verdana"/>
                <a:cs typeface="Verdana"/>
              </a:rPr>
              <a:t>reporting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using </a:t>
            </a:r>
            <a:r>
              <a:rPr b="0" spc="-35" dirty="0">
                <a:latin typeface="Verdana"/>
                <a:cs typeface="Verdana"/>
              </a:rPr>
              <a:t>Power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b="0" spc="-225" dirty="0">
                <a:latin typeface="Verdana"/>
                <a:cs typeface="Verdana"/>
              </a:rPr>
              <a:t>BI.</a:t>
            </a:r>
            <a:r>
              <a:rPr b="0" spc="-150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The</a:t>
            </a:r>
            <a:r>
              <a:rPr b="0" spc="-210" dirty="0">
                <a:latin typeface="Verdana"/>
                <a:cs typeface="Verdana"/>
              </a:rPr>
              <a:t> </a:t>
            </a:r>
            <a:r>
              <a:rPr b="0" spc="-70" dirty="0">
                <a:latin typeface="Verdana"/>
                <a:cs typeface="Verdana"/>
              </a:rPr>
              <a:t>goal</a:t>
            </a:r>
            <a:r>
              <a:rPr b="0" spc="-170" dirty="0">
                <a:latin typeface="Verdana"/>
                <a:cs typeface="Verdana"/>
              </a:rPr>
              <a:t> </a:t>
            </a:r>
            <a:r>
              <a:rPr b="0" spc="-55" dirty="0">
                <a:latin typeface="Verdana"/>
                <a:cs typeface="Verdana"/>
              </a:rPr>
              <a:t>is</a:t>
            </a:r>
            <a:r>
              <a:rPr b="0" spc="-170" dirty="0">
                <a:latin typeface="Verdana"/>
                <a:cs typeface="Verdana"/>
              </a:rPr>
              <a:t> </a:t>
            </a:r>
            <a:r>
              <a:rPr b="0" spc="-35" dirty="0">
                <a:latin typeface="Verdana"/>
                <a:cs typeface="Verdana"/>
              </a:rPr>
              <a:t>to</a:t>
            </a:r>
            <a:r>
              <a:rPr b="0" spc="-170" dirty="0">
                <a:latin typeface="Verdana"/>
                <a:cs typeface="Verdana"/>
              </a:rPr>
              <a:t> </a:t>
            </a:r>
            <a:r>
              <a:rPr b="0" spc="-70" dirty="0">
                <a:latin typeface="Verdana"/>
                <a:cs typeface="Verdana"/>
              </a:rPr>
              <a:t>track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income, </a:t>
            </a:r>
            <a:r>
              <a:rPr b="0" spc="-85" dirty="0">
                <a:latin typeface="Verdana"/>
                <a:cs typeface="Verdana"/>
              </a:rPr>
              <a:t>expenses,</a:t>
            </a:r>
            <a:r>
              <a:rPr b="0" spc="-105" dirty="0">
                <a:latin typeface="Verdana"/>
                <a:cs typeface="Verdana"/>
              </a:rPr>
              <a:t> and</a:t>
            </a:r>
            <a:r>
              <a:rPr b="0" spc="-130" dirty="0">
                <a:latin typeface="Verdana"/>
                <a:cs typeface="Verdana"/>
              </a:rPr>
              <a:t> </a:t>
            </a:r>
            <a:r>
              <a:rPr b="0" spc="-95" dirty="0">
                <a:latin typeface="Verdana"/>
                <a:cs typeface="Verdana"/>
              </a:rPr>
              <a:t>profitability</a:t>
            </a:r>
            <a:r>
              <a:rPr b="0" spc="-114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across </a:t>
            </a:r>
            <a:r>
              <a:rPr b="0" spc="-95" dirty="0">
                <a:latin typeface="Verdana"/>
                <a:cs typeface="Verdana"/>
              </a:rPr>
              <a:t>departments</a:t>
            </a:r>
            <a:r>
              <a:rPr b="0" spc="-155" dirty="0">
                <a:latin typeface="Verdana"/>
                <a:cs typeface="Verdana"/>
              </a:rPr>
              <a:t> </a:t>
            </a:r>
            <a:r>
              <a:rPr b="0" spc="-105" dirty="0">
                <a:latin typeface="Verdana"/>
                <a:cs typeface="Verdana"/>
              </a:rPr>
              <a:t>and</a:t>
            </a:r>
            <a:r>
              <a:rPr b="0" spc="-155" dirty="0">
                <a:latin typeface="Verdana"/>
                <a:cs typeface="Verdana"/>
              </a:rPr>
              <a:t> </a:t>
            </a:r>
            <a:r>
              <a:rPr b="0" spc="-120" dirty="0">
                <a:latin typeface="Verdana"/>
                <a:cs typeface="Verdana"/>
              </a:rPr>
              <a:t>time</a:t>
            </a:r>
            <a:r>
              <a:rPr b="0" spc="-105" dirty="0">
                <a:latin typeface="Verdana"/>
                <a:cs typeface="Verdana"/>
              </a:rPr>
              <a:t> </a:t>
            </a:r>
            <a:r>
              <a:rPr b="0" spc="-95" dirty="0">
                <a:latin typeface="Verdana"/>
                <a:cs typeface="Verdana"/>
              </a:rPr>
              <a:t>periods.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The </a:t>
            </a:r>
            <a:r>
              <a:rPr b="0" spc="-75" dirty="0">
                <a:latin typeface="Verdana"/>
                <a:cs typeface="Verdana"/>
              </a:rPr>
              <a:t>dashboard</a:t>
            </a:r>
            <a:r>
              <a:rPr b="0" spc="-140" dirty="0">
                <a:latin typeface="Verdana"/>
                <a:cs typeface="Verdana"/>
              </a:rPr>
              <a:t> </a:t>
            </a:r>
            <a:r>
              <a:rPr b="0" spc="-85" dirty="0">
                <a:latin typeface="Verdana"/>
                <a:cs typeface="Verdana"/>
              </a:rPr>
              <a:t>should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90" dirty="0">
                <a:latin typeface="Verdana"/>
                <a:cs typeface="Verdana"/>
              </a:rPr>
              <a:t>provide</a:t>
            </a:r>
            <a:r>
              <a:rPr b="0" spc="-175" dirty="0">
                <a:latin typeface="Verdana"/>
                <a:cs typeface="Verdana"/>
              </a:rPr>
              <a:t> </a:t>
            </a:r>
            <a:r>
              <a:rPr b="0" spc="-90" dirty="0">
                <a:latin typeface="Verdana"/>
                <a:cs typeface="Verdana"/>
              </a:rPr>
              <a:t>insights</a:t>
            </a:r>
            <a:r>
              <a:rPr b="0" spc="-135" dirty="0">
                <a:latin typeface="Verdana"/>
                <a:cs typeface="Verdana"/>
              </a:rPr>
              <a:t> </a:t>
            </a:r>
            <a:r>
              <a:rPr b="0" spc="-20" dirty="0">
                <a:latin typeface="Verdana"/>
                <a:cs typeface="Verdana"/>
              </a:rPr>
              <a:t>into </a:t>
            </a:r>
            <a:r>
              <a:rPr b="0" spc="-85" dirty="0">
                <a:latin typeface="Verdana"/>
                <a:cs typeface="Verdana"/>
              </a:rPr>
              <a:t>budget</a:t>
            </a:r>
            <a:r>
              <a:rPr b="0" spc="-180" dirty="0">
                <a:latin typeface="Verdana"/>
                <a:cs typeface="Verdana"/>
              </a:rPr>
              <a:t> </a:t>
            </a:r>
            <a:r>
              <a:rPr b="0" spc="-70" dirty="0">
                <a:latin typeface="Verdana"/>
                <a:cs typeface="Verdana"/>
              </a:rPr>
              <a:t>vs</a:t>
            </a:r>
            <a:r>
              <a:rPr b="0" spc="-150" dirty="0">
                <a:latin typeface="Verdana"/>
                <a:cs typeface="Verdana"/>
              </a:rPr>
              <a:t> </a:t>
            </a:r>
            <a:r>
              <a:rPr b="0" spc="-100" dirty="0">
                <a:latin typeface="Verdana"/>
                <a:cs typeface="Verdana"/>
              </a:rPr>
              <a:t>actuals,</a:t>
            </a:r>
            <a:r>
              <a:rPr b="0" spc="-12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cost</a:t>
            </a:r>
            <a:r>
              <a:rPr b="0" spc="-175" dirty="0">
                <a:latin typeface="Verdana"/>
                <a:cs typeface="Verdana"/>
              </a:rPr>
              <a:t> </a:t>
            </a:r>
            <a:r>
              <a:rPr b="0" spc="-80" dirty="0">
                <a:latin typeface="Verdana"/>
                <a:cs typeface="Verdana"/>
              </a:rPr>
              <a:t>centers,</a:t>
            </a:r>
            <a:r>
              <a:rPr b="0" spc="-13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and </a:t>
            </a:r>
            <a:r>
              <a:rPr b="0" spc="-90" dirty="0">
                <a:latin typeface="Verdana"/>
                <a:cs typeface="Verdana"/>
              </a:rPr>
              <a:t>financial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125" dirty="0">
                <a:latin typeface="Verdana"/>
                <a:cs typeface="Verdana"/>
              </a:rPr>
              <a:t>KPIs. </a:t>
            </a:r>
            <a:r>
              <a:rPr b="0" spc="-195" dirty="0">
                <a:latin typeface="Verdana"/>
                <a:cs typeface="Verdana"/>
              </a:rPr>
              <a:t>It</a:t>
            </a:r>
            <a:r>
              <a:rPr b="0" spc="-95" dirty="0">
                <a:latin typeface="Verdana"/>
                <a:cs typeface="Verdana"/>
              </a:rPr>
              <a:t> </a:t>
            </a:r>
            <a:r>
              <a:rPr b="0" spc="-85" dirty="0">
                <a:latin typeface="Verdana"/>
                <a:cs typeface="Verdana"/>
              </a:rPr>
              <a:t>should</a:t>
            </a:r>
            <a:r>
              <a:rPr b="0" spc="-145" dirty="0">
                <a:latin typeface="Verdana"/>
                <a:cs typeface="Verdana"/>
              </a:rPr>
              <a:t> </a:t>
            </a:r>
            <a:r>
              <a:rPr b="0" spc="-80" dirty="0">
                <a:latin typeface="Verdana"/>
                <a:cs typeface="Verdana"/>
              </a:rPr>
              <a:t>support</a:t>
            </a:r>
            <a:r>
              <a:rPr b="0" spc="-95" dirty="0">
                <a:latin typeface="Verdana"/>
                <a:cs typeface="Verdana"/>
              </a:rPr>
              <a:t> </a:t>
            </a:r>
            <a:r>
              <a:rPr b="0" spc="-114" dirty="0">
                <a:latin typeface="Verdana"/>
                <a:cs typeface="Verdana"/>
              </a:rPr>
              <a:t>drill-</a:t>
            </a:r>
            <a:r>
              <a:rPr b="0" spc="-20" dirty="0">
                <a:latin typeface="Verdana"/>
                <a:cs typeface="Verdana"/>
              </a:rPr>
              <a:t>down </a:t>
            </a:r>
            <a:r>
              <a:rPr b="0" spc="-90" dirty="0">
                <a:latin typeface="Verdana"/>
                <a:cs typeface="Verdana"/>
              </a:rPr>
              <a:t>analysis</a:t>
            </a:r>
            <a:r>
              <a:rPr b="0" spc="-160" dirty="0">
                <a:latin typeface="Verdana"/>
                <a:cs typeface="Verdana"/>
              </a:rPr>
              <a:t> </a:t>
            </a:r>
            <a:r>
              <a:rPr b="0" spc="-105" dirty="0">
                <a:latin typeface="Verdana"/>
                <a:cs typeface="Verdana"/>
              </a:rPr>
              <a:t>and</a:t>
            </a:r>
            <a:r>
              <a:rPr b="0" spc="-160" dirty="0">
                <a:latin typeface="Verdana"/>
                <a:cs typeface="Verdana"/>
              </a:rPr>
              <a:t> </a:t>
            </a:r>
            <a:r>
              <a:rPr b="0" spc="-85" dirty="0">
                <a:latin typeface="Verdana"/>
                <a:cs typeface="Verdana"/>
              </a:rPr>
              <a:t>help</a:t>
            </a:r>
            <a:r>
              <a:rPr b="0" spc="-160" dirty="0">
                <a:latin typeface="Verdana"/>
                <a:cs typeface="Verdana"/>
              </a:rPr>
              <a:t> </a:t>
            </a:r>
            <a:r>
              <a:rPr b="0" spc="70" dirty="0">
                <a:latin typeface="Verdana"/>
                <a:cs typeface="Verdana"/>
              </a:rPr>
              <a:t>CFOs</a:t>
            </a:r>
            <a:r>
              <a:rPr b="0" spc="-160" dirty="0">
                <a:latin typeface="Verdana"/>
                <a:cs typeface="Verdana"/>
              </a:rPr>
              <a:t> </a:t>
            </a:r>
            <a:r>
              <a:rPr b="0" spc="-130" dirty="0">
                <a:latin typeface="Verdana"/>
                <a:cs typeface="Verdana"/>
              </a:rPr>
              <a:t>make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strategic decisions.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04051" y="1693926"/>
            <a:ext cx="4679950" cy="4498975"/>
            <a:chOff x="6504051" y="1693926"/>
            <a:chExt cx="4679950" cy="4498975"/>
          </a:xfrm>
        </p:grpSpPr>
        <p:sp>
          <p:nvSpPr>
            <p:cNvPr id="5" name="object 5"/>
            <p:cNvSpPr/>
            <p:nvPr/>
          </p:nvSpPr>
          <p:spPr>
            <a:xfrm>
              <a:off x="6510401" y="2024062"/>
              <a:ext cx="4667250" cy="4162425"/>
            </a:xfrm>
            <a:custGeom>
              <a:avLst/>
              <a:gdLst/>
              <a:ahLst/>
              <a:cxnLst/>
              <a:rect l="l" t="t" r="r" b="b"/>
              <a:pathLst>
                <a:path w="4667250" h="4162425">
                  <a:moveTo>
                    <a:pt x="4667250" y="0"/>
                  </a:moveTo>
                  <a:lnTo>
                    <a:pt x="0" y="0"/>
                  </a:lnTo>
                  <a:lnTo>
                    <a:pt x="0" y="4162425"/>
                  </a:lnTo>
                  <a:lnTo>
                    <a:pt x="4667250" y="4162425"/>
                  </a:lnTo>
                  <a:lnTo>
                    <a:pt x="46672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0401" y="2024062"/>
              <a:ext cx="4667250" cy="4162425"/>
            </a:xfrm>
            <a:custGeom>
              <a:avLst/>
              <a:gdLst/>
              <a:ahLst/>
              <a:cxnLst/>
              <a:rect l="l" t="t" r="r" b="b"/>
              <a:pathLst>
                <a:path w="4667250" h="4162425">
                  <a:moveTo>
                    <a:pt x="0" y="4162425"/>
                  </a:moveTo>
                  <a:lnTo>
                    <a:pt x="4667250" y="4162425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4162425"/>
                  </a:lnTo>
                  <a:close/>
                </a:path>
              </a:pathLst>
            </a:custGeom>
            <a:ln w="12700">
              <a:solidFill>
                <a:srgbClr val="169C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39001" y="1700276"/>
              <a:ext cx="3267075" cy="657225"/>
            </a:xfrm>
            <a:custGeom>
              <a:avLst/>
              <a:gdLst/>
              <a:ahLst/>
              <a:cxnLst/>
              <a:rect l="l" t="t" r="r" b="b"/>
              <a:pathLst>
                <a:path w="3267075" h="657225">
                  <a:moveTo>
                    <a:pt x="3157474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547624"/>
                  </a:lnTo>
                  <a:lnTo>
                    <a:pt x="8604" y="590252"/>
                  </a:lnTo>
                  <a:lnTo>
                    <a:pt x="32067" y="625094"/>
                  </a:lnTo>
                  <a:lnTo>
                    <a:pt x="66865" y="648600"/>
                  </a:lnTo>
                  <a:lnTo>
                    <a:pt x="109474" y="657225"/>
                  </a:lnTo>
                  <a:lnTo>
                    <a:pt x="3157474" y="657225"/>
                  </a:lnTo>
                  <a:lnTo>
                    <a:pt x="3200102" y="648600"/>
                  </a:lnTo>
                  <a:lnTo>
                    <a:pt x="3234944" y="625094"/>
                  </a:lnTo>
                  <a:lnTo>
                    <a:pt x="3258450" y="590252"/>
                  </a:lnTo>
                  <a:lnTo>
                    <a:pt x="3267075" y="547624"/>
                  </a:lnTo>
                  <a:lnTo>
                    <a:pt x="3267075" y="109474"/>
                  </a:lnTo>
                  <a:lnTo>
                    <a:pt x="3258450" y="66865"/>
                  </a:lnTo>
                  <a:lnTo>
                    <a:pt x="3234944" y="32067"/>
                  </a:lnTo>
                  <a:lnTo>
                    <a:pt x="3200102" y="8604"/>
                  </a:lnTo>
                  <a:lnTo>
                    <a:pt x="3157474" y="0"/>
                  </a:lnTo>
                  <a:close/>
                </a:path>
              </a:pathLst>
            </a:custGeom>
            <a:solidFill>
              <a:srgbClr val="169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39001" y="1700276"/>
              <a:ext cx="3267075" cy="657225"/>
            </a:xfrm>
            <a:custGeom>
              <a:avLst/>
              <a:gdLst/>
              <a:ahLst/>
              <a:cxnLst/>
              <a:rect l="l" t="t" r="r" b="b"/>
              <a:pathLst>
                <a:path w="3267075" h="657225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3157474" y="0"/>
                  </a:lnTo>
                  <a:lnTo>
                    <a:pt x="3200102" y="8604"/>
                  </a:lnTo>
                  <a:lnTo>
                    <a:pt x="3234944" y="32067"/>
                  </a:lnTo>
                  <a:lnTo>
                    <a:pt x="3258450" y="66865"/>
                  </a:lnTo>
                  <a:lnTo>
                    <a:pt x="3267075" y="109474"/>
                  </a:lnTo>
                  <a:lnTo>
                    <a:pt x="3267075" y="547624"/>
                  </a:lnTo>
                  <a:lnTo>
                    <a:pt x="3258450" y="590252"/>
                  </a:lnTo>
                  <a:lnTo>
                    <a:pt x="3234944" y="625094"/>
                  </a:lnTo>
                  <a:lnTo>
                    <a:pt x="3200102" y="648600"/>
                  </a:lnTo>
                  <a:lnTo>
                    <a:pt x="3157474" y="657225"/>
                  </a:lnTo>
                  <a:lnTo>
                    <a:pt x="109474" y="657225"/>
                  </a:lnTo>
                  <a:lnTo>
                    <a:pt x="66865" y="648600"/>
                  </a:lnTo>
                  <a:lnTo>
                    <a:pt x="32067" y="625094"/>
                  </a:lnTo>
                  <a:lnTo>
                    <a:pt x="8604" y="590252"/>
                  </a:lnTo>
                  <a:lnTo>
                    <a:pt x="0" y="547624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  <a:p>
            <a:pPr marL="240665" indent="-227965">
              <a:lnSpc>
                <a:spcPct val="100000"/>
              </a:lnSpc>
              <a:spcBef>
                <a:spcPts val="2205"/>
              </a:spcBef>
              <a:buChar char="•"/>
              <a:tabLst>
                <a:tab pos="240665" algn="l"/>
              </a:tabLst>
            </a:pP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Track</a:t>
            </a:r>
            <a:r>
              <a:rPr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114" dirty="0">
                <a:solidFill>
                  <a:srgbClr val="000000"/>
                </a:solidFill>
                <a:latin typeface="Verdana"/>
                <a:cs typeface="Verdana"/>
              </a:rPr>
              <a:t>Income</a:t>
            </a:r>
            <a:r>
              <a:rPr b="0" spc="-13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125" dirty="0">
                <a:solidFill>
                  <a:srgbClr val="000000"/>
                </a:solidFill>
                <a:latin typeface="Verdana"/>
                <a:cs typeface="Verdana"/>
              </a:rPr>
              <a:t>&amp;</a:t>
            </a:r>
            <a:r>
              <a:rPr b="0" spc="-16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Expenses</a:t>
            </a:r>
          </a:p>
          <a:p>
            <a:pPr marL="240029" indent="-227329">
              <a:lnSpc>
                <a:spcPct val="100000"/>
              </a:lnSpc>
              <a:spcBef>
                <a:spcPts val="275"/>
              </a:spcBef>
              <a:buChar char="•"/>
              <a:tabLst>
                <a:tab pos="240029" algn="l"/>
              </a:tabLst>
            </a:pPr>
            <a:r>
              <a:rPr b="0" spc="-50" dirty="0">
                <a:solidFill>
                  <a:srgbClr val="000000"/>
                </a:solidFill>
                <a:latin typeface="Verdana"/>
                <a:cs typeface="Verdana"/>
              </a:rPr>
              <a:t>Monitor</a:t>
            </a:r>
            <a:r>
              <a:rPr b="0" spc="-14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30" dirty="0">
                <a:solidFill>
                  <a:srgbClr val="000000"/>
                </a:solidFill>
                <a:latin typeface="Verdana"/>
                <a:cs typeface="Verdana"/>
              </a:rPr>
              <a:t>Net</a:t>
            </a:r>
            <a:r>
              <a:rPr b="0" spc="-15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35" dirty="0">
                <a:solidFill>
                  <a:srgbClr val="000000"/>
                </a:solidFill>
                <a:latin typeface="Verdana"/>
                <a:cs typeface="Verdana"/>
              </a:rPr>
              <a:t>Profit</a:t>
            </a:r>
            <a:r>
              <a:rPr b="0" spc="-15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75" dirty="0">
                <a:solidFill>
                  <a:srgbClr val="000000"/>
                </a:solidFill>
                <a:latin typeface="Verdana"/>
                <a:cs typeface="Verdana"/>
              </a:rPr>
              <a:t>over</a:t>
            </a:r>
            <a:r>
              <a:rPr b="0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45" dirty="0">
                <a:solidFill>
                  <a:srgbClr val="000000"/>
                </a:solidFill>
                <a:latin typeface="Verdana"/>
                <a:cs typeface="Verdana"/>
              </a:rPr>
              <a:t>time</a:t>
            </a: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Char char="•"/>
              <a:tabLst>
                <a:tab pos="240665" algn="l"/>
              </a:tabLst>
            </a:pPr>
            <a:r>
              <a:rPr b="0" spc="-40" dirty="0">
                <a:solidFill>
                  <a:srgbClr val="000000"/>
                </a:solidFill>
                <a:latin typeface="Verdana"/>
                <a:cs typeface="Verdana"/>
              </a:rPr>
              <a:t>Compare</a:t>
            </a:r>
            <a:r>
              <a:rPr b="0" spc="-2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45" dirty="0">
                <a:solidFill>
                  <a:srgbClr val="000000"/>
                </a:solidFill>
                <a:latin typeface="Verdana"/>
                <a:cs typeface="Verdana"/>
              </a:rPr>
              <a:t>Budget</a:t>
            </a:r>
            <a:r>
              <a:rPr b="0" spc="-15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75" dirty="0">
                <a:solidFill>
                  <a:srgbClr val="000000"/>
                </a:solidFill>
                <a:latin typeface="Verdana"/>
                <a:cs typeface="Verdana"/>
              </a:rPr>
              <a:t>vs</a:t>
            </a:r>
            <a:r>
              <a:rPr b="0" spc="-1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Actual</a:t>
            </a:r>
          </a:p>
          <a:p>
            <a:pPr marL="240029" indent="-227329">
              <a:lnSpc>
                <a:spcPts val="2490"/>
              </a:lnSpc>
              <a:spcBef>
                <a:spcPts val="275"/>
              </a:spcBef>
              <a:buChar char="•"/>
              <a:tabLst>
                <a:tab pos="240029" algn="l"/>
              </a:tabLst>
            </a:pPr>
            <a:r>
              <a:rPr b="0" spc="-110" dirty="0">
                <a:solidFill>
                  <a:srgbClr val="000000"/>
                </a:solidFill>
                <a:latin typeface="Verdana"/>
                <a:cs typeface="Verdana"/>
              </a:rPr>
              <a:t>Identify</a:t>
            </a:r>
            <a:r>
              <a:rPr b="0" spc="-85" dirty="0">
                <a:solidFill>
                  <a:srgbClr val="000000"/>
                </a:solidFill>
                <a:latin typeface="Verdana"/>
                <a:cs typeface="Verdana"/>
              </a:rPr>
              <a:t> High-</a:t>
            </a:r>
            <a:r>
              <a:rPr b="0" spc="-20" dirty="0">
                <a:solidFill>
                  <a:srgbClr val="000000"/>
                </a:solidFill>
                <a:latin typeface="Verdana"/>
                <a:cs typeface="Verdana"/>
              </a:rPr>
              <a:t>Cost</a:t>
            </a:r>
          </a:p>
          <a:p>
            <a:pPr marL="241300">
              <a:lnSpc>
                <a:spcPts val="2490"/>
              </a:lnSpc>
            </a:pP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Departments</a:t>
            </a:r>
          </a:p>
          <a:p>
            <a:pPr marL="240029" indent="-227329">
              <a:lnSpc>
                <a:spcPct val="100000"/>
              </a:lnSpc>
              <a:spcBef>
                <a:spcPts val="275"/>
              </a:spcBef>
              <a:buChar char="•"/>
              <a:tabLst>
                <a:tab pos="240029" algn="l"/>
              </a:tabLst>
            </a:pPr>
            <a:r>
              <a:rPr b="0" spc="-55" dirty="0">
                <a:solidFill>
                  <a:srgbClr val="000000"/>
                </a:solidFill>
                <a:latin typeface="Verdana"/>
                <a:cs typeface="Verdana"/>
              </a:rPr>
              <a:t>Analyze</a:t>
            </a:r>
            <a:r>
              <a:rPr b="0" spc="-1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65" dirty="0">
                <a:solidFill>
                  <a:srgbClr val="000000"/>
                </a:solidFill>
                <a:latin typeface="Verdana"/>
                <a:cs typeface="Verdana"/>
              </a:rPr>
              <a:t>Monthly</a:t>
            </a:r>
            <a:r>
              <a:rPr b="0" spc="-13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Trends</a:t>
            </a: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•"/>
              <a:tabLst>
                <a:tab pos="240665" algn="l"/>
              </a:tabLst>
            </a:pPr>
            <a:r>
              <a:rPr b="0" spc="-35" dirty="0">
                <a:solidFill>
                  <a:srgbClr val="000000"/>
                </a:solidFill>
                <a:latin typeface="Verdana"/>
                <a:cs typeface="Verdana"/>
              </a:rPr>
              <a:t>Calculate</a:t>
            </a:r>
            <a:r>
              <a:rPr b="0" spc="-1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Verdana"/>
                <a:cs typeface="Verdana"/>
              </a:rPr>
              <a:t>KPIs:</a:t>
            </a:r>
          </a:p>
          <a:p>
            <a:pPr marL="467995" lvl="1" indent="-226695">
              <a:lnSpc>
                <a:spcPct val="100000"/>
              </a:lnSpc>
              <a:spcBef>
                <a:spcPts val="200"/>
              </a:spcBef>
              <a:buChar char="•"/>
              <a:tabLst>
                <a:tab pos="467995" algn="l"/>
              </a:tabLst>
            </a:pPr>
            <a:r>
              <a:rPr sz="2150" spc="-25" dirty="0">
                <a:latin typeface="Verdana"/>
                <a:cs typeface="Verdana"/>
              </a:rPr>
              <a:t>Cost-</a:t>
            </a:r>
            <a:r>
              <a:rPr sz="2150" spc="-90" dirty="0">
                <a:latin typeface="Verdana"/>
                <a:cs typeface="Verdana"/>
              </a:rPr>
              <a:t>to-</a:t>
            </a:r>
            <a:r>
              <a:rPr sz="2150" spc="-105" dirty="0">
                <a:latin typeface="Verdana"/>
                <a:cs typeface="Verdana"/>
              </a:rPr>
              <a:t>Income</a:t>
            </a:r>
            <a:r>
              <a:rPr sz="2150" spc="-70" dirty="0">
                <a:latin typeface="Verdana"/>
                <a:cs typeface="Verdana"/>
              </a:rPr>
              <a:t> </a:t>
            </a:r>
            <a:r>
              <a:rPr sz="2150" spc="-20" dirty="0">
                <a:latin typeface="Verdana"/>
                <a:cs typeface="Verdana"/>
              </a:rPr>
              <a:t>Ratio</a:t>
            </a:r>
            <a:endParaRPr sz="2150">
              <a:latin typeface="Verdana"/>
              <a:cs typeface="Verdana"/>
            </a:endParaRPr>
          </a:p>
          <a:p>
            <a:pPr marL="467995" lvl="1" indent="-226695">
              <a:lnSpc>
                <a:spcPct val="100000"/>
              </a:lnSpc>
              <a:spcBef>
                <a:spcPts val="275"/>
              </a:spcBef>
              <a:buChar char="•"/>
              <a:tabLst>
                <a:tab pos="467995" algn="l"/>
              </a:tabLst>
            </a:pPr>
            <a:r>
              <a:rPr sz="2150" spc="90" dirty="0">
                <a:latin typeface="Verdana"/>
                <a:cs typeface="Verdana"/>
              </a:rPr>
              <a:t>YoY</a:t>
            </a:r>
            <a:r>
              <a:rPr sz="2150" spc="-114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Profit</a:t>
            </a:r>
            <a:r>
              <a:rPr sz="2150" spc="-15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Growth</a:t>
            </a:r>
            <a:endParaRPr sz="2150">
              <a:latin typeface="Verdana"/>
              <a:cs typeface="Verdana"/>
            </a:endParaRPr>
          </a:p>
          <a:p>
            <a:pPr marL="467995" lvl="1" indent="-226695">
              <a:lnSpc>
                <a:spcPct val="100000"/>
              </a:lnSpc>
              <a:spcBef>
                <a:spcPts val="275"/>
              </a:spcBef>
              <a:buChar char="•"/>
              <a:tabLst>
                <a:tab pos="467995" algn="l"/>
              </a:tabLst>
            </a:pPr>
            <a:r>
              <a:rPr sz="2150" spc="-45" dirty="0">
                <a:latin typeface="Verdana"/>
                <a:cs typeface="Verdana"/>
              </a:rPr>
              <a:t>Variance</a:t>
            </a:r>
            <a:r>
              <a:rPr sz="2150" spc="-135" dirty="0">
                <a:latin typeface="Verdana"/>
                <a:cs typeface="Verdana"/>
              </a:rPr>
              <a:t> </a:t>
            </a:r>
            <a:r>
              <a:rPr sz="2150" spc="-420" dirty="0">
                <a:latin typeface="Verdana"/>
                <a:cs typeface="Verdana"/>
              </a:rPr>
              <a:t>%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Expected</a:t>
            </a:r>
            <a:r>
              <a:rPr spc="-45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832" y="1608307"/>
            <a:ext cx="7872730" cy="344932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900" spc="-70" dirty="0">
                <a:solidFill>
                  <a:srgbClr val="FFFFFF"/>
                </a:solidFill>
                <a:latin typeface="Verdana"/>
                <a:cs typeface="Verdana"/>
              </a:rPr>
              <a:t>Clear</a:t>
            </a:r>
            <a:r>
              <a:rPr sz="29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20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29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14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sz="2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45" dirty="0">
                <a:solidFill>
                  <a:srgbClr val="FFFFFF"/>
                </a:solidFill>
                <a:latin typeface="Verdana"/>
                <a:cs typeface="Verdana"/>
              </a:rPr>
              <a:t>visibility</a:t>
            </a:r>
            <a:endParaRPr sz="2900">
              <a:latin typeface="Verdana"/>
              <a:cs typeface="Verdana"/>
            </a:endParaRPr>
          </a:p>
          <a:p>
            <a:pPr marL="241935" indent="-229235">
              <a:lnSpc>
                <a:spcPct val="100000"/>
              </a:lnSpc>
              <a:spcBef>
                <a:spcPts val="1025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900" spc="-160" dirty="0">
                <a:solidFill>
                  <a:srgbClr val="FFFFFF"/>
                </a:solidFill>
                <a:latin typeface="Verdana"/>
                <a:cs typeface="Verdana"/>
              </a:rPr>
              <a:t>Department-</a:t>
            </a:r>
            <a:r>
              <a:rPr sz="2900" spc="-85" dirty="0">
                <a:solidFill>
                  <a:srgbClr val="FFFFFF"/>
                </a:solidFill>
                <a:latin typeface="Verdana"/>
                <a:cs typeface="Verdana"/>
              </a:rPr>
              <a:t>wise</a:t>
            </a:r>
            <a:r>
              <a:rPr sz="2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25" dirty="0">
                <a:solidFill>
                  <a:srgbClr val="FFFFFF"/>
                </a:solidFill>
                <a:latin typeface="Verdana"/>
                <a:cs typeface="Verdana"/>
              </a:rPr>
              <a:t>income</a:t>
            </a:r>
            <a:r>
              <a:rPr sz="29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95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29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75" dirty="0">
                <a:solidFill>
                  <a:srgbClr val="FFFFFF"/>
                </a:solidFill>
                <a:latin typeface="Verdana"/>
                <a:cs typeface="Verdana"/>
              </a:rPr>
              <a:t>expense</a:t>
            </a:r>
            <a:r>
              <a:rPr sz="29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80" dirty="0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endParaRPr sz="29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0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900" spc="-114" dirty="0">
                <a:solidFill>
                  <a:srgbClr val="FFFFFF"/>
                </a:solidFill>
                <a:latin typeface="Verdana"/>
                <a:cs typeface="Verdana"/>
              </a:rPr>
              <a:t>Early</a:t>
            </a:r>
            <a:r>
              <a:rPr sz="29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90" dirty="0">
                <a:solidFill>
                  <a:srgbClr val="FFFFFF"/>
                </a:solidFill>
                <a:latin typeface="Verdana"/>
                <a:cs typeface="Verdana"/>
              </a:rPr>
              <a:t>detection</a:t>
            </a:r>
            <a:r>
              <a:rPr sz="29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4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90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losses</a:t>
            </a:r>
            <a:endParaRPr sz="2900">
              <a:latin typeface="Verdana"/>
              <a:cs typeface="Verdana"/>
            </a:endParaRPr>
          </a:p>
          <a:p>
            <a:pPr marL="241935" indent="-229235">
              <a:lnSpc>
                <a:spcPct val="100000"/>
              </a:lnSpc>
              <a:spcBef>
                <a:spcPts val="955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900" spc="-204" dirty="0">
                <a:solidFill>
                  <a:srgbClr val="FFFFFF"/>
                </a:solidFill>
                <a:latin typeface="Verdana"/>
                <a:cs typeface="Verdana"/>
              </a:rPr>
              <a:t>Improved</a:t>
            </a:r>
            <a:r>
              <a:rPr sz="29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5" dirty="0">
                <a:solidFill>
                  <a:srgbClr val="FFFFFF"/>
                </a:solidFill>
                <a:latin typeface="Verdana"/>
                <a:cs typeface="Verdana"/>
              </a:rPr>
              <a:t>budget</a:t>
            </a:r>
            <a:r>
              <a:rPr sz="29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Verdana"/>
                <a:cs typeface="Verdana"/>
              </a:rPr>
              <a:t>monitoring</a:t>
            </a:r>
            <a:endParaRPr sz="29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0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900" spc="-100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2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85" dirty="0">
                <a:solidFill>
                  <a:srgbClr val="FFFFFF"/>
                </a:solidFill>
                <a:latin typeface="Verdana"/>
                <a:cs typeface="Verdana"/>
              </a:rPr>
              <a:t>strategic</a:t>
            </a:r>
            <a:r>
              <a:rPr sz="2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5" dirty="0">
                <a:solidFill>
                  <a:srgbClr val="FFFFFF"/>
                </a:solidFill>
                <a:latin typeface="Verdana"/>
                <a:cs typeface="Verdana"/>
              </a:rPr>
              <a:t>decision-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making</a:t>
            </a:r>
            <a:endParaRPr sz="2900">
              <a:latin typeface="Verdana"/>
              <a:cs typeface="Verdana"/>
            </a:endParaRPr>
          </a:p>
          <a:p>
            <a:pPr marL="241935" indent="-229235">
              <a:lnSpc>
                <a:spcPct val="100000"/>
              </a:lnSpc>
              <a:spcBef>
                <a:spcPts val="1025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900" spc="-155" dirty="0">
                <a:solidFill>
                  <a:srgbClr val="FFFFFF"/>
                </a:solidFill>
                <a:latin typeface="Verdana"/>
                <a:cs typeface="Verdana"/>
              </a:rPr>
              <a:t>Data-driven</a:t>
            </a:r>
            <a:r>
              <a:rPr sz="29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5" dirty="0">
                <a:solidFill>
                  <a:srgbClr val="FFFFFF"/>
                </a:solidFill>
                <a:latin typeface="Verdana"/>
                <a:cs typeface="Verdana"/>
              </a:rPr>
              <a:t>support</a:t>
            </a:r>
            <a:r>
              <a:rPr sz="29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6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9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Verdana"/>
                <a:cs typeface="Verdana"/>
              </a:rPr>
              <a:t>CFO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1" y="538861"/>
            <a:ext cx="6934200" cy="575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Dataset</a:t>
            </a:r>
            <a:r>
              <a:rPr spc="-190" dirty="0"/>
              <a:t> </a:t>
            </a:r>
            <a:r>
              <a:rPr spc="-90" dirty="0"/>
              <a:t>and</a:t>
            </a:r>
            <a:r>
              <a:rPr spc="-19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11444"/>
            <a:ext cx="5638801" cy="4516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r>
              <a:rPr sz="16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uses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four</a:t>
            </a:r>
            <a:r>
              <a:rPr sz="16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tables: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r>
              <a:rPr sz="16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 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records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Accounts</a:t>
            </a:r>
            <a:r>
              <a:rPr sz="16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account</a:t>
            </a:r>
            <a:r>
              <a:rPr sz="16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categories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Departments</a:t>
            </a:r>
            <a:r>
              <a:rPr sz="16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department</a:t>
            </a:r>
            <a:r>
              <a:rPr sz="16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information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Dates</a:t>
            </a:r>
            <a:r>
              <a:rPr sz="16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16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16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6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Transactions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Accounts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(Foreign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Key)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Transactions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Departments</a:t>
            </a:r>
            <a:r>
              <a:rPr sz="16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(Foreign</a:t>
            </a:r>
            <a:r>
              <a:rPr sz="16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Key)</a:t>
            </a:r>
            <a:endParaRPr sz="1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Transactions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6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Dates</a:t>
            </a:r>
            <a:r>
              <a:rPr sz="16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(Foreign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Key)</a:t>
            </a:r>
            <a:endParaRPr sz="1600" dirty="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follows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star</a:t>
            </a:r>
            <a:r>
              <a:rPr sz="16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schema</a:t>
            </a:r>
            <a:r>
              <a:rPr sz="1600" b="1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analysis.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538861"/>
            <a:ext cx="6400799" cy="6014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832" y="538861"/>
            <a:ext cx="77406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195" dirty="0"/>
              <a:t> </a:t>
            </a:r>
            <a:r>
              <a:rPr spc="-25" dirty="0"/>
              <a:t>Performance</a:t>
            </a:r>
            <a:r>
              <a:rPr spc="-180" dirty="0"/>
              <a:t> </a:t>
            </a:r>
            <a:r>
              <a:rPr spc="-110" dirty="0"/>
              <a:t>Indicators</a:t>
            </a:r>
            <a:r>
              <a:rPr spc="-200" dirty="0"/>
              <a:t> </a:t>
            </a:r>
            <a:r>
              <a:rPr spc="-105" dirty="0"/>
              <a:t>(KPIs)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076" y="2673440"/>
            <a:ext cx="11429999" cy="301480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Financial</a:t>
            </a:r>
            <a:r>
              <a:rPr sz="20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sz="2000" b="1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20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5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generated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1,845.07M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total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income.</a:t>
            </a:r>
            <a:endParaRPr sz="20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5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Total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expenses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reached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2000" b="1" spc="-110" dirty="0">
                <a:solidFill>
                  <a:srgbClr val="FFFFFF"/>
                </a:solidFill>
                <a:latin typeface="Tahoma"/>
                <a:cs typeface="Tahoma"/>
              </a:rPr>
              <a:t>1,884.56M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leading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net</a:t>
            </a:r>
            <a:r>
              <a:rPr sz="20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39.49M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6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Cost-</a:t>
            </a:r>
            <a:r>
              <a:rPr sz="2000" b="1" spc="-90" dirty="0">
                <a:solidFill>
                  <a:srgbClr val="FFFFFF"/>
                </a:solidFill>
                <a:latin typeface="Tahoma"/>
                <a:cs typeface="Tahoma"/>
              </a:rPr>
              <a:t>to-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Income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Ratio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40" dirty="0">
                <a:solidFill>
                  <a:srgbClr val="FFFFFF"/>
                </a:solidFill>
                <a:latin typeface="Tahoma"/>
                <a:cs typeface="Tahoma"/>
              </a:rPr>
              <a:t>(102.14%)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indicates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expenses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exceeded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income.</a:t>
            </a:r>
            <a:endParaRPr sz="2000" dirty="0">
              <a:latin typeface="Verdana"/>
              <a:cs typeface="Verdana"/>
            </a:endParaRPr>
          </a:p>
          <a:p>
            <a:pPr marL="241300" marR="5080" indent="-229235">
              <a:lnSpc>
                <a:spcPct val="120000"/>
              </a:lnSpc>
              <a:spcBef>
                <a:spcPts val="9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Despite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current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loss,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YoY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Profit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FFFFFF"/>
                </a:solidFill>
                <a:latin typeface="Tahoma"/>
                <a:cs typeface="Tahoma"/>
              </a:rPr>
              <a:t>Growth</a:t>
            </a:r>
            <a:r>
              <a:rPr sz="20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04" dirty="0">
                <a:solidFill>
                  <a:srgbClr val="FFFFFF"/>
                </a:solidFill>
                <a:latin typeface="Tahoma"/>
                <a:cs typeface="Tahoma"/>
              </a:rPr>
              <a:t>19.24%</a:t>
            </a:r>
            <a:r>
              <a:rPr sz="20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shows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improvement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over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last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year.</a:t>
            </a:r>
            <a:endParaRPr sz="2000" dirty="0">
              <a:latin typeface="Verdana"/>
              <a:cs typeface="Verdana"/>
            </a:endParaRPr>
          </a:p>
          <a:p>
            <a:pPr marL="241300" marR="789305" indent="-229235">
              <a:lnSpc>
                <a:spcPct val="120000"/>
              </a:lnSpc>
              <a:spcBef>
                <a:spcPts val="10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7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000" b="1" spc="-130" dirty="0">
                <a:solidFill>
                  <a:srgbClr val="FFFFFF"/>
                </a:solidFill>
                <a:latin typeface="Tahoma"/>
                <a:cs typeface="Tahoma"/>
              </a:rPr>
              <a:t>9.09%</a:t>
            </a: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variance 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highlights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underperformance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against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planned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budget.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438275"/>
            <a:ext cx="1733550" cy="828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6925" y="1466850"/>
            <a:ext cx="1543050" cy="8096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5250" y="1495425"/>
            <a:ext cx="1581150" cy="7810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9775" y="1495425"/>
            <a:ext cx="1962150" cy="7810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24825" y="1495425"/>
            <a:ext cx="1628775" cy="7810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48875" y="1428750"/>
            <a:ext cx="1600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Department-</a:t>
            </a:r>
            <a:r>
              <a:rPr spc="-20" dirty="0"/>
              <a:t>Level</a:t>
            </a:r>
            <a:r>
              <a:rPr spc="-170" dirty="0"/>
              <a:t> </a:t>
            </a:r>
            <a:r>
              <a:rPr spc="-60" dirty="0"/>
              <a:t>Financial</a:t>
            </a:r>
            <a:r>
              <a:rPr spc="-17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0201" y="1347533"/>
            <a:ext cx="5811520" cy="523367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85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ahoma"/>
                <a:cs typeface="Tahoma"/>
              </a:rPr>
              <a:t>Observations:</a:t>
            </a:r>
            <a:endParaRPr sz="185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Comparison</a:t>
            </a:r>
            <a:r>
              <a:rPr sz="18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8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sz="18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40" dirty="0">
                <a:solidFill>
                  <a:srgbClr val="FFFFFF"/>
                </a:solidFill>
                <a:latin typeface="Tahoma"/>
                <a:cs typeface="Tahoma"/>
              </a:rPr>
              <a:t>Income</a:t>
            </a:r>
            <a:r>
              <a:rPr sz="18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vs</a:t>
            </a:r>
            <a:r>
              <a:rPr sz="18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sz="18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ahoma"/>
                <a:cs typeface="Tahoma"/>
              </a:rPr>
              <a:t>Expenses</a:t>
            </a:r>
            <a:endParaRPr sz="1850" dirty="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30"/>
              </a:spcBef>
            </a:pP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18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departments</a:t>
            </a:r>
            <a:endParaRPr sz="1850" dirty="0">
              <a:latin typeface="Verdana"/>
              <a:cs typeface="Verdana"/>
            </a:endParaRPr>
          </a:p>
          <a:p>
            <a:pPr marL="241300" marR="160655" indent="-229235">
              <a:lnSpc>
                <a:spcPct val="104900"/>
              </a:lnSpc>
              <a:spcBef>
                <a:spcPts val="9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Some</a:t>
            </a:r>
            <a:r>
              <a:rPr sz="18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departments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generate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strong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revenue</a:t>
            </a: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but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also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incur</a:t>
            </a:r>
            <a:r>
              <a:rPr sz="18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8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costs</a:t>
            </a:r>
            <a:endParaRPr sz="1850" dirty="0">
              <a:latin typeface="Verdana"/>
              <a:cs typeface="Verdana"/>
            </a:endParaRPr>
          </a:p>
          <a:p>
            <a:pPr marL="241300" marR="81280" indent="-229235">
              <a:lnSpc>
                <a:spcPct val="104800"/>
              </a:lnSpc>
              <a:spcBef>
                <a:spcPts val="9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Certain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departments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show</a:t>
            </a:r>
            <a:r>
              <a:rPr sz="185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expenses</a:t>
            </a:r>
            <a:r>
              <a:rPr sz="18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close</a:t>
            </a:r>
            <a:r>
              <a:rPr sz="18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5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exceeding</a:t>
            </a:r>
            <a:r>
              <a:rPr sz="18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ahoma"/>
                <a:cs typeface="Tahoma"/>
              </a:rPr>
              <a:t>income</a:t>
            </a:r>
            <a:endParaRPr sz="1850" dirty="0">
              <a:latin typeface="Tahoma"/>
              <a:cs typeface="Tahoma"/>
            </a:endParaRPr>
          </a:p>
          <a:p>
            <a:pPr marL="241300" marR="398145" indent="-229235">
              <a:lnSpc>
                <a:spcPct val="104800"/>
              </a:lnSpc>
              <a:spcBef>
                <a:spcPts val="9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18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identify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cost</a:t>
            </a:r>
            <a:r>
              <a:rPr sz="18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centers</a:t>
            </a:r>
            <a:r>
              <a:rPr sz="185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Tahoma"/>
                <a:cs typeface="Tahoma"/>
              </a:rPr>
              <a:t>profit-</a:t>
            </a:r>
            <a:r>
              <a:rPr sz="1850" b="1" spc="-10" dirty="0">
                <a:solidFill>
                  <a:srgbClr val="FFFFFF"/>
                </a:solidFill>
                <a:latin typeface="Tahoma"/>
                <a:cs typeface="Tahoma"/>
              </a:rPr>
              <a:t>driving departments</a:t>
            </a:r>
            <a:endParaRPr sz="18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b="1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1850" b="1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ahoma"/>
                <a:cs typeface="Tahoma"/>
              </a:rPr>
              <a:t>Impact:</a:t>
            </a:r>
            <a:endParaRPr sz="1850" dirty="0">
              <a:latin typeface="Tahoma"/>
              <a:cs typeface="Tahoma"/>
            </a:endParaRPr>
          </a:p>
          <a:p>
            <a:pPr marL="241300" marR="1043940" indent="-229235">
              <a:lnSpc>
                <a:spcPct val="104800"/>
              </a:lnSpc>
              <a:spcBef>
                <a:spcPts val="9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Supports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5" dirty="0">
                <a:solidFill>
                  <a:srgbClr val="FFFFFF"/>
                </a:solidFill>
                <a:latin typeface="Verdana"/>
                <a:cs typeface="Verdana"/>
              </a:rPr>
              <a:t>department-</a:t>
            </a: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wise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performance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evaluation</a:t>
            </a:r>
            <a:endParaRPr sz="185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18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sz="18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operational</a:t>
            </a:r>
            <a:r>
              <a:rPr sz="18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costs</a:t>
            </a:r>
            <a:endParaRPr sz="185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Enables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resource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allocation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endParaRPr sz="185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2400300"/>
            <a:ext cx="600075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Budget</a:t>
            </a:r>
            <a:r>
              <a:rPr spc="-210" dirty="0"/>
              <a:t> </a:t>
            </a:r>
            <a:r>
              <a:rPr dirty="0"/>
              <a:t>vs</a:t>
            </a:r>
            <a:r>
              <a:rPr spc="-160" dirty="0"/>
              <a:t> </a:t>
            </a:r>
            <a:r>
              <a:rPr spc="-30" dirty="0"/>
              <a:t>Actual</a:t>
            </a:r>
            <a:r>
              <a:rPr spc="-220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37" y="1599247"/>
            <a:ext cx="5741035" cy="4581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Insights:</a:t>
            </a:r>
            <a:endParaRPr sz="1700" dirty="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6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Actual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b="1" spc="-45" dirty="0">
                <a:solidFill>
                  <a:srgbClr val="FFFFFF"/>
                </a:solidFill>
                <a:latin typeface="Tahoma"/>
                <a:cs typeface="Tahoma"/>
              </a:rPr>
              <a:t>below</a:t>
            </a:r>
            <a:r>
              <a:rPr sz="17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45" dirty="0">
                <a:solidFill>
                  <a:srgbClr val="FFFFFF"/>
                </a:solidFill>
                <a:latin typeface="Tahoma"/>
                <a:cs typeface="Tahoma"/>
              </a:rPr>
              <a:t>planned</a:t>
            </a:r>
            <a:r>
              <a:rPr sz="17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endParaRPr sz="1700" dirty="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19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Revenue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shortfall</a:t>
            </a:r>
            <a:r>
              <a:rPr sz="17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impacts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17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profitability</a:t>
            </a:r>
            <a:endParaRPr sz="1700" dirty="0">
              <a:latin typeface="Verdana"/>
              <a:cs typeface="Verdana"/>
            </a:endParaRPr>
          </a:p>
          <a:p>
            <a:pPr marL="241300" marR="183515" indent="-228600">
              <a:lnSpc>
                <a:spcPct val="110400"/>
              </a:lnSpc>
              <a:spcBef>
                <a:spcPts val="9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Indicates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need</a:t>
            </a:r>
            <a:r>
              <a:rPr sz="17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7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improved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forecasting</a:t>
            </a:r>
            <a:r>
              <a:rPr sz="17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revenue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strategies</a:t>
            </a:r>
            <a:endParaRPr sz="1700" dirty="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119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17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management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monitor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goal</a:t>
            </a:r>
            <a:r>
              <a:rPr sz="17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achievement</a:t>
            </a:r>
            <a:endParaRPr sz="1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Microsoft Sans Serif"/>
              <a:buChar char="•"/>
            </a:pPr>
            <a:endParaRPr sz="1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Microsoft Sans Serif"/>
              <a:buChar char="•"/>
            </a:pPr>
            <a:endParaRPr sz="17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17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Importance:</a:t>
            </a:r>
            <a:endParaRPr sz="1700" dirty="0">
              <a:latin typeface="Tahoma"/>
              <a:cs typeface="Tahoma"/>
            </a:endParaRPr>
          </a:p>
          <a:p>
            <a:pPr marL="241300" marR="956944" indent="-228600">
              <a:lnSpc>
                <a:spcPct val="110400"/>
              </a:lnSpc>
              <a:spcBef>
                <a:spcPts val="9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Tracks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whether</a:t>
            </a:r>
            <a:r>
              <a:rPr sz="17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17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meeting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financial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expectations</a:t>
            </a:r>
            <a:endParaRPr sz="1700" dirty="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118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Supports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corrective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actions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7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budgeting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7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planning</a:t>
            </a:r>
            <a:endParaRPr sz="1700" dirty="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126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Enhances</a:t>
            </a:r>
            <a:r>
              <a:rPr sz="17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accountability 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departments</a:t>
            </a:r>
            <a:endParaRPr sz="17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075" y="240030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Monthly</a:t>
            </a:r>
            <a:r>
              <a:rPr spc="-160" dirty="0"/>
              <a:t> </a:t>
            </a:r>
            <a:r>
              <a:rPr spc="-145" dirty="0"/>
              <a:t>Income</a:t>
            </a:r>
            <a:r>
              <a:rPr spc="-204" dirty="0"/>
              <a:t> </a:t>
            </a:r>
            <a:r>
              <a:rPr dirty="0"/>
              <a:t>vs</a:t>
            </a:r>
            <a:r>
              <a:rPr spc="-155" dirty="0"/>
              <a:t> </a:t>
            </a:r>
            <a:r>
              <a:rPr dirty="0"/>
              <a:t>Expense</a:t>
            </a:r>
            <a:r>
              <a:rPr spc="-204" dirty="0"/>
              <a:t> </a:t>
            </a:r>
            <a:r>
              <a:rPr spc="-10" dirty="0"/>
              <a:t>Trend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/>
              <a:t>Key</a:t>
            </a:r>
            <a:r>
              <a:rPr spc="20" dirty="0"/>
              <a:t> </a:t>
            </a:r>
            <a:r>
              <a:rPr spc="-10" dirty="0"/>
              <a:t>Observations: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70" dirty="0">
                <a:latin typeface="Verdana"/>
                <a:cs typeface="Verdana"/>
              </a:rPr>
              <a:t>Income</a:t>
            </a:r>
            <a:r>
              <a:rPr b="0" spc="-100" dirty="0">
                <a:latin typeface="Verdana"/>
                <a:cs typeface="Verdana"/>
              </a:rPr>
              <a:t> </a:t>
            </a:r>
            <a:r>
              <a:rPr b="0" spc="-50" dirty="0">
                <a:latin typeface="Verdana"/>
                <a:cs typeface="Verdana"/>
              </a:rPr>
              <a:t>and</a:t>
            </a:r>
            <a:r>
              <a:rPr b="0" spc="-12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expenses</a:t>
            </a:r>
            <a:r>
              <a:rPr b="0" spc="-85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fluctuate</a:t>
            </a:r>
            <a:r>
              <a:rPr b="0" spc="-9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across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months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40" dirty="0">
                <a:latin typeface="Verdana"/>
                <a:cs typeface="Verdana"/>
              </a:rPr>
              <a:t>Early</a:t>
            </a:r>
            <a:r>
              <a:rPr b="0" spc="-85" dirty="0">
                <a:latin typeface="Verdana"/>
                <a:cs typeface="Verdana"/>
              </a:rPr>
              <a:t> </a:t>
            </a:r>
            <a:r>
              <a:rPr b="0" spc="-60" dirty="0">
                <a:latin typeface="Verdana"/>
                <a:cs typeface="Verdana"/>
              </a:rPr>
              <a:t>months</a:t>
            </a:r>
            <a:r>
              <a:rPr b="0" spc="-16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show</a:t>
            </a:r>
            <a:r>
              <a:rPr b="0" spc="-50" dirty="0">
                <a:latin typeface="Verdana"/>
                <a:cs typeface="Verdana"/>
              </a:rPr>
              <a:t> </a:t>
            </a:r>
            <a:r>
              <a:rPr b="0" spc="-65" dirty="0">
                <a:latin typeface="Verdana"/>
                <a:cs typeface="Verdana"/>
              </a:rPr>
              <a:t>relatively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60" dirty="0">
                <a:latin typeface="Verdana"/>
                <a:cs typeface="Verdana"/>
              </a:rPr>
              <a:t>higher</a:t>
            </a:r>
            <a:r>
              <a:rPr b="0" spc="-165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income</a:t>
            </a:r>
            <a:r>
              <a:rPr b="0" spc="-100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levels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35" dirty="0">
                <a:latin typeface="Verdana"/>
                <a:cs typeface="Verdana"/>
              </a:rPr>
              <a:t>Mid-</a:t>
            </a:r>
            <a:r>
              <a:rPr b="0" spc="-65" dirty="0">
                <a:latin typeface="Verdana"/>
                <a:cs typeface="Verdana"/>
              </a:rPr>
              <a:t>year </a:t>
            </a:r>
            <a:r>
              <a:rPr b="0" spc="-10" dirty="0">
                <a:latin typeface="Verdana"/>
                <a:cs typeface="Verdana"/>
              </a:rPr>
              <a:t>shows</a:t>
            </a:r>
            <a:r>
              <a:rPr b="0" spc="-65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noticeable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35" dirty="0">
                <a:latin typeface="Verdana"/>
                <a:cs typeface="Verdana"/>
              </a:rPr>
              <a:t>decline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70" dirty="0">
                <a:latin typeface="Verdana"/>
                <a:cs typeface="Verdana"/>
              </a:rPr>
              <a:t>in</a:t>
            </a:r>
            <a:r>
              <a:rPr b="0" spc="-6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revenue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dirty="0">
                <a:latin typeface="Verdana"/>
                <a:cs typeface="Verdana"/>
              </a:rPr>
              <a:t>Expenses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85" dirty="0">
                <a:latin typeface="Verdana"/>
                <a:cs typeface="Verdana"/>
              </a:rPr>
              <a:t>remain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35" dirty="0">
                <a:latin typeface="Verdana"/>
                <a:cs typeface="Verdana"/>
              </a:rPr>
              <a:t>consistently</a:t>
            </a:r>
            <a:r>
              <a:rPr b="0" spc="-65" dirty="0">
                <a:latin typeface="Verdana"/>
                <a:cs typeface="Verdana"/>
              </a:rPr>
              <a:t> </a:t>
            </a:r>
            <a:r>
              <a:rPr b="0" spc="-75" dirty="0">
                <a:latin typeface="Verdana"/>
                <a:cs typeface="Verdana"/>
              </a:rPr>
              <a:t>high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55" dirty="0">
                <a:latin typeface="Verdana"/>
                <a:cs typeface="Verdana"/>
              </a:rPr>
              <a:t>throughout</a:t>
            </a:r>
            <a:r>
              <a:rPr b="0" spc="-100" dirty="0">
                <a:latin typeface="Verdana"/>
                <a:cs typeface="Verdana"/>
              </a:rPr>
              <a:t> </a:t>
            </a:r>
            <a:r>
              <a:rPr b="0" spc="-45" dirty="0">
                <a:latin typeface="Verdana"/>
                <a:cs typeface="Verdana"/>
              </a:rPr>
              <a:t>the</a:t>
            </a:r>
            <a:r>
              <a:rPr b="0" spc="-75" dirty="0">
                <a:latin typeface="Verdana"/>
                <a:cs typeface="Verdana"/>
              </a:rPr>
              <a:t> </a:t>
            </a:r>
            <a:r>
              <a:rPr b="0" spc="-20" dirty="0">
                <a:latin typeface="Verdana"/>
                <a:cs typeface="Verdana"/>
              </a:rPr>
              <a:t>year</a:t>
            </a:r>
          </a:p>
          <a:p>
            <a:pPr marL="241300" indent="-228600">
              <a:lnSpc>
                <a:spcPct val="100000"/>
              </a:lnSpc>
              <a:spcBef>
                <a:spcPts val="10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30" dirty="0">
                <a:latin typeface="Verdana"/>
                <a:cs typeface="Verdana"/>
              </a:rPr>
              <a:t>Narrow</a:t>
            </a:r>
            <a:r>
              <a:rPr b="0" spc="-114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gap</a:t>
            </a:r>
            <a:r>
              <a:rPr b="0" spc="-125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between</a:t>
            </a:r>
            <a:r>
              <a:rPr b="0" spc="-85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income</a:t>
            </a:r>
            <a:r>
              <a:rPr b="0" spc="-95" dirty="0">
                <a:latin typeface="Verdana"/>
                <a:cs typeface="Verdana"/>
              </a:rPr>
              <a:t> </a:t>
            </a:r>
            <a:r>
              <a:rPr b="0" spc="-50" dirty="0">
                <a:latin typeface="Verdana"/>
                <a:cs typeface="Verdana"/>
              </a:rPr>
              <a:t>and</a:t>
            </a:r>
            <a:r>
              <a:rPr b="0" spc="-12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expenses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impacts</a:t>
            </a:r>
            <a:r>
              <a:rPr b="0" spc="-85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profitability</a:t>
            </a:r>
          </a:p>
          <a:p>
            <a:pPr>
              <a:lnSpc>
                <a:spcPct val="100000"/>
              </a:lnSpc>
              <a:buClr>
                <a:srgbClr val="FFFFFF"/>
              </a:buClr>
              <a:buFont typeface="Microsoft Sans Serif"/>
              <a:buChar char="•"/>
            </a:pPr>
            <a:endParaRPr b="0" spc="-3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FFFFF"/>
              </a:buClr>
              <a:buFont typeface="Microsoft Sans Serif"/>
              <a:buChar char="•"/>
            </a:pPr>
            <a:endParaRPr b="0" spc="-3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Business</a:t>
            </a:r>
            <a:r>
              <a:rPr spc="100" dirty="0"/>
              <a:t> </a:t>
            </a:r>
            <a:r>
              <a:rPr spc="-10" dirty="0"/>
              <a:t>Insights: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60" dirty="0">
                <a:latin typeface="Verdana"/>
                <a:cs typeface="Verdana"/>
              </a:rPr>
              <a:t>Identifies</a:t>
            </a:r>
            <a:r>
              <a:rPr b="0" spc="-4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seasonal</a:t>
            </a:r>
            <a:r>
              <a:rPr b="0" spc="-100" dirty="0">
                <a:latin typeface="Verdana"/>
                <a:cs typeface="Verdana"/>
              </a:rPr>
              <a:t> </a:t>
            </a:r>
            <a:r>
              <a:rPr b="0" spc="-35" dirty="0">
                <a:latin typeface="Verdana"/>
                <a:cs typeface="Verdana"/>
              </a:rPr>
              <a:t>performance</a:t>
            </a:r>
            <a:r>
              <a:rPr b="0" spc="-5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patterns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50" dirty="0">
                <a:latin typeface="Verdana"/>
                <a:cs typeface="Verdana"/>
              </a:rPr>
              <a:t>Highlights</a:t>
            </a:r>
            <a:r>
              <a:rPr b="0" spc="-65" dirty="0">
                <a:latin typeface="Verdana"/>
                <a:cs typeface="Verdana"/>
              </a:rPr>
              <a:t> months</a:t>
            </a:r>
            <a:r>
              <a:rPr b="0" spc="-60" dirty="0">
                <a:latin typeface="Verdana"/>
                <a:cs typeface="Verdana"/>
              </a:rPr>
              <a:t> </a:t>
            </a:r>
            <a:r>
              <a:rPr b="0" spc="-80" dirty="0">
                <a:latin typeface="Verdana"/>
                <a:cs typeface="Verdana"/>
              </a:rPr>
              <a:t>with</a:t>
            </a:r>
            <a:r>
              <a:rPr b="0" spc="-65" dirty="0">
                <a:latin typeface="Verdana"/>
                <a:cs typeface="Verdana"/>
              </a:rPr>
              <a:t> </a:t>
            </a:r>
            <a:r>
              <a:rPr b="0" spc="-45" dirty="0">
                <a:latin typeface="Verdana"/>
                <a:cs typeface="Verdana"/>
              </a:rPr>
              <a:t>potential</a:t>
            </a:r>
            <a:r>
              <a:rPr b="0" spc="-120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financial</a:t>
            </a:r>
            <a:r>
              <a:rPr b="0" spc="-50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pressure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30" dirty="0">
                <a:latin typeface="Verdana"/>
                <a:cs typeface="Verdana"/>
              </a:rPr>
              <a:t>Supports</a:t>
            </a:r>
            <a:r>
              <a:rPr b="0" spc="-80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better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80" dirty="0">
                <a:latin typeface="Verdana"/>
                <a:cs typeface="Verdana"/>
              </a:rPr>
              <a:t>monthly</a:t>
            </a:r>
            <a:r>
              <a:rPr b="0" spc="-145" dirty="0">
                <a:latin typeface="Verdana"/>
                <a:cs typeface="Verdana"/>
              </a:rPr>
              <a:t> </a:t>
            </a:r>
            <a:r>
              <a:rPr b="0" spc="-45" dirty="0">
                <a:latin typeface="Verdana"/>
                <a:cs typeface="Verdana"/>
              </a:rPr>
              <a:t>budgeting</a:t>
            </a:r>
            <a:r>
              <a:rPr b="0" spc="-114" dirty="0">
                <a:latin typeface="Verdana"/>
                <a:cs typeface="Verdana"/>
              </a:rPr>
              <a:t> </a:t>
            </a:r>
            <a:r>
              <a:rPr b="0" spc="-40" dirty="0">
                <a:latin typeface="Verdana"/>
                <a:cs typeface="Verdana"/>
              </a:rPr>
              <a:t>and </a:t>
            </a:r>
            <a:r>
              <a:rPr b="0" spc="-10" dirty="0">
                <a:latin typeface="Verdana"/>
                <a:cs typeface="Verdana"/>
              </a:rPr>
              <a:t>forecasting</a:t>
            </a: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b="0" spc="-10" dirty="0">
                <a:latin typeface="Verdana"/>
                <a:cs typeface="Verdana"/>
              </a:rPr>
              <a:t>Helps</a:t>
            </a:r>
            <a:r>
              <a:rPr b="0" spc="-70" dirty="0">
                <a:latin typeface="Verdana"/>
                <a:cs typeface="Verdana"/>
              </a:rPr>
              <a:t> management</a:t>
            </a:r>
            <a:r>
              <a:rPr b="0" spc="-100" dirty="0">
                <a:latin typeface="Verdana"/>
                <a:cs typeface="Verdana"/>
              </a:rPr>
              <a:t> </a:t>
            </a:r>
            <a:r>
              <a:rPr b="0" spc="-65" dirty="0">
                <a:latin typeface="Verdana"/>
                <a:cs typeface="Verdana"/>
              </a:rPr>
              <a:t>plan</a:t>
            </a:r>
            <a:r>
              <a:rPr b="0" spc="-70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cost-</a:t>
            </a:r>
            <a:r>
              <a:rPr b="0" spc="-25" dirty="0">
                <a:latin typeface="Verdana"/>
                <a:cs typeface="Verdana"/>
              </a:rPr>
              <a:t>control</a:t>
            </a:r>
            <a:r>
              <a:rPr b="0" spc="-55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strategies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2781300"/>
            <a:ext cx="5191125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Top</a:t>
            </a:r>
            <a:r>
              <a:rPr spc="-240" dirty="0"/>
              <a:t> </a:t>
            </a:r>
            <a:r>
              <a:rPr dirty="0"/>
              <a:t>Expense</a:t>
            </a:r>
            <a:r>
              <a:rPr spc="-195" dirty="0"/>
              <a:t> </a:t>
            </a:r>
            <a:r>
              <a:rPr spc="-10" dirty="0"/>
              <a:t>Categories</a:t>
            </a:r>
            <a:r>
              <a:rPr spc="-15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402" y="1204150"/>
            <a:ext cx="5414010" cy="53105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700" b="1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7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Observations:</a:t>
            </a:r>
            <a:endParaRPr sz="1700">
              <a:latin typeface="Tahoma"/>
              <a:cs typeface="Tahoma"/>
            </a:endParaRPr>
          </a:p>
          <a:p>
            <a:pPr marL="241300" marR="5080" indent="-229235">
              <a:lnSpc>
                <a:spcPts val="2030"/>
              </a:lnSpc>
              <a:spcBef>
                <a:spcPts val="10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Expense</a:t>
            </a:r>
            <a:r>
              <a:rPr sz="17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category</a:t>
            </a:r>
            <a:r>
              <a:rPr sz="17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contributes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7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FFFFFF"/>
                </a:solidFill>
                <a:latin typeface="Verdana"/>
                <a:cs typeface="Verdana"/>
              </a:rPr>
              <a:t>highest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financial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outflow</a:t>
            </a:r>
            <a:endParaRPr sz="17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969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Followed</a:t>
            </a:r>
            <a:r>
              <a:rPr sz="1700" spc="-110" dirty="0">
                <a:solidFill>
                  <a:srgbClr val="FFFFFF"/>
                </a:solidFill>
                <a:latin typeface="Verdana"/>
                <a:cs typeface="Verdana"/>
              </a:rPr>
              <a:t> by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Asset-</a:t>
            </a:r>
            <a:r>
              <a:rPr sz="1700" b="1" spc="-35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7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expenditures</a:t>
            </a:r>
            <a:endParaRPr sz="1700">
              <a:latin typeface="Tahoma"/>
              <a:cs typeface="Tahoma"/>
            </a:endParaRPr>
          </a:p>
          <a:p>
            <a:pPr marL="241300" marR="306070" indent="-229235">
              <a:lnSpc>
                <a:spcPts val="2030"/>
              </a:lnSpc>
              <a:spcBef>
                <a:spcPts val="11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Revenue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7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Liability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categories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show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moderate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impact</a:t>
            </a:r>
            <a:endParaRPr sz="1700">
              <a:latin typeface="Verdana"/>
              <a:cs typeface="Verdana"/>
            </a:endParaRPr>
          </a:p>
          <a:p>
            <a:pPr marL="241300" marR="755650" indent="-229235">
              <a:lnSpc>
                <a:spcPct val="100000"/>
              </a:lnSpc>
              <a:spcBef>
                <a:spcPts val="8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Equity</a:t>
            </a:r>
            <a:r>
              <a:rPr sz="17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contributes</a:t>
            </a:r>
            <a:r>
              <a:rPr sz="17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7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least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700" spc="-85" dirty="0">
                <a:solidFill>
                  <a:srgbClr val="FFFFFF"/>
                </a:solidFill>
                <a:latin typeface="Verdana"/>
                <a:cs typeface="Verdana"/>
              </a:rPr>
              <a:t> total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financial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movement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64"/>
              </a:spcBef>
              <a:buClr>
                <a:srgbClr val="FFFFFF"/>
              </a:buClr>
              <a:buFont typeface="Microsoft Sans Serif"/>
              <a:buChar char="•"/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17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ahoma"/>
                <a:cs typeface="Tahoma"/>
              </a:rPr>
              <a:t>Insights:</a:t>
            </a:r>
            <a:endParaRPr sz="17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Major</a:t>
            </a:r>
            <a:r>
              <a:rPr sz="17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spending</a:t>
            </a:r>
            <a:r>
              <a:rPr sz="17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concentrated</a:t>
            </a:r>
            <a:r>
              <a:rPr sz="17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7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Expense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accounts</a:t>
            </a:r>
            <a:endParaRPr sz="17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0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80" dirty="0">
                <a:solidFill>
                  <a:srgbClr val="FFFFFF"/>
                </a:solidFill>
                <a:latin typeface="Verdana"/>
                <a:cs typeface="Verdana"/>
              </a:rPr>
              <a:t>Indicates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operational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r>
              <a:rPr sz="17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1700">
              <a:latin typeface="Verdana"/>
              <a:cs typeface="Verdana"/>
            </a:endParaRPr>
          </a:p>
          <a:p>
            <a:pPr marL="241300" marR="765810" indent="-229235">
              <a:lnSpc>
                <a:spcPts val="2030"/>
              </a:lnSpc>
              <a:spcBef>
                <a:spcPts val="10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r>
              <a:rPr sz="17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Verdana"/>
                <a:cs typeface="Verdana"/>
              </a:rPr>
              <a:t>optimization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should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r>
              <a:rPr sz="17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7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Verdana"/>
                <a:cs typeface="Verdana"/>
              </a:rPr>
              <a:t>dominant </a:t>
            </a:r>
            <a:r>
              <a:rPr sz="1700" spc="-60" dirty="0">
                <a:solidFill>
                  <a:srgbClr val="FFFFFF"/>
                </a:solidFill>
                <a:latin typeface="Verdana"/>
                <a:cs typeface="Verdana"/>
              </a:rPr>
              <a:t>expense</a:t>
            </a:r>
            <a:r>
              <a:rPr sz="17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categories</a:t>
            </a:r>
            <a:endParaRPr sz="17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9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17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sz="17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prioritize</a:t>
            </a:r>
            <a:r>
              <a:rPr sz="17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17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sz="17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areas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2133600"/>
            <a:ext cx="6086475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Conclusion</a:t>
            </a:r>
            <a:r>
              <a:rPr spc="-210" dirty="0"/>
              <a:t> </a:t>
            </a:r>
            <a:r>
              <a:rPr spc="-225" dirty="0"/>
              <a:t>&amp;</a:t>
            </a:r>
            <a:r>
              <a:rPr spc="-190" dirty="0"/>
              <a:t> </a:t>
            </a:r>
            <a:r>
              <a:rPr dirty="0"/>
              <a:t>Key</a:t>
            </a:r>
            <a:r>
              <a:rPr spc="-114" dirty="0"/>
              <a:t> </a:t>
            </a:r>
            <a:r>
              <a:rPr spc="-10" dirty="0"/>
              <a:t>Takeaways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1832" y="1742693"/>
            <a:ext cx="9907270" cy="479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680085" indent="-229235">
              <a:lnSpc>
                <a:spcPct val="100400"/>
              </a:lnSpc>
              <a:spcBef>
                <a:spcPts val="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successfully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automates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reporting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centralized,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interactive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view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income,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expenses,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profitability,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budget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performance.</a:t>
            </a:r>
            <a:endParaRPr sz="2400">
              <a:latin typeface="Verdana"/>
              <a:cs typeface="Verdana"/>
            </a:endParaRPr>
          </a:p>
          <a:p>
            <a:pPr marL="241300" marR="5080" indent="-229235">
              <a:lnSpc>
                <a:spcPct val="100400"/>
              </a:lnSpc>
              <a:spcBef>
                <a:spcPts val="9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shows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total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expenses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exceeded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total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income,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resulting 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net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loss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Cost-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to-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Income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ratio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above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4" dirty="0">
                <a:solidFill>
                  <a:srgbClr val="FFFFFF"/>
                </a:solidFill>
                <a:latin typeface="Verdana"/>
                <a:cs typeface="Verdana"/>
              </a:rPr>
              <a:t>100%,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indicating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operational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inefficiency.</a:t>
            </a:r>
            <a:endParaRPr sz="2400">
              <a:latin typeface="Verdana"/>
              <a:cs typeface="Verdana"/>
            </a:endParaRPr>
          </a:p>
          <a:p>
            <a:pPr marL="241300" marR="29845" indent="-229235">
              <a:lnSpc>
                <a:spcPct val="100400"/>
              </a:lnSpc>
              <a:spcBef>
                <a:spcPts val="10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Although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budget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targets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were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fully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achieved,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positive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Year-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over-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Year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growth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reflects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improvement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potential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financial recovery.</a:t>
            </a:r>
            <a:endParaRPr sz="2400">
              <a:latin typeface="Verdana"/>
              <a:cs typeface="Verdana"/>
            </a:endParaRPr>
          </a:p>
          <a:p>
            <a:pPr marL="241300" marR="443230" indent="-229235">
              <a:lnSpc>
                <a:spcPct val="100400"/>
              </a:lnSpc>
              <a:spcBef>
                <a:spcPts val="9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Strategic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should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optimization,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strengthening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revenue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streams,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continuous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KPI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monitoring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support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data-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driven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decision-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making.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593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Microsoft Sans Serif</vt:lpstr>
      <vt:lpstr>Tahoma</vt:lpstr>
      <vt:lpstr>Verdana</vt:lpstr>
      <vt:lpstr>Office Theme</vt:lpstr>
      <vt:lpstr>PowerPoint Presentation</vt:lpstr>
      <vt:lpstr>Problem Statement &amp; Objectives</vt:lpstr>
      <vt:lpstr>Expected Outcomes</vt:lpstr>
      <vt:lpstr>Dataset and Model</vt:lpstr>
      <vt:lpstr>Key Performance Indicators (KPIs)</vt:lpstr>
      <vt:lpstr>Department-Level Financial Analysis</vt:lpstr>
      <vt:lpstr>Budget vs Actual Performance</vt:lpstr>
      <vt:lpstr>Monthly Income vs Expense Trend</vt:lpstr>
      <vt:lpstr>Top Expense Categories Analysis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Pratiksha Bhadargade</cp:lastModifiedBy>
  <cp:revision>4</cp:revision>
  <dcterms:created xsi:type="dcterms:W3CDTF">2026-03-24T09:56:49Z</dcterms:created>
  <dcterms:modified xsi:type="dcterms:W3CDTF">2026-03-24T11:52:21Z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2026-02-22T00:00:00Z</vt:filetime>
  </property>
  <property fmtid="{D5CDD505-2E9C-101B-9397-08002B2CF9AE}" pid="3" name="LastSaved">
    <vt:filetime>2026-03-24T00:00:00Z</vt:filetime>
  </property>
</Properties>
</file>